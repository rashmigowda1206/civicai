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77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194560"/>
            <a:ext cx="5120640" cy="51206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457200"/>
            <a:ext cx="3429000" cy="365760"/>
          </a:xfrm>
          <a:prstGeom prst="roundRect">
            <a:avLst>
              <a:gd name="adj" fmla="val 50000"/>
            </a:avLst>
          </a:prstGeom>
          <a:solidFill>
            <a:srgbClr val="1B193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457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· AI FOR DIGITAL PUBLIC INFRASTRUCTURE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32688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B1938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32688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SMART CITY 2026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514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Public Issue Resolution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3063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digital public infrastructure for real-time defect detection, dynamic triage &amp; verifiable public proof.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97764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15132C"/>
          </a:solidFill>
          <a:ln w="158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77240" y="4178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PROJECT TEAM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544568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Panchaksharayya
</a:t>
            </a:r>
            <a:r>
              <a:rPr lang="en-US" sz="11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Architecture &amp; AI Integration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Rashmi
</a:t>
            </a:r>
            <a:r>
              <a:rPr lang="en-US" sz="11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Systems &amp; Civic Experience Design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3977640"/>
            <a:ext cx="5513832" cy="2331720"/>
          </a:xfrm>
          <a:prstGeom prst="roundRect">
            <a:avLst>
              <a:gd name="adj" fmla="val 3529"/>
            </a:avLst>
          </a:prstGeom>
          <a:solidFill>
            <a:srgbClr val="15132C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46520" y="4178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VALUE PROPOSITIONS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45994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656832" y="449884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Telemetry
</a:t>
            </a:r>
            <a:r>
              <a:rPr lang="en-US" sz="10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defect classification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5148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656832" y="504748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Priority Engine
</a:t>
            </a:r>
            <a:r>
              <a:rPr lang="en-US" sz="10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weighted triage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56967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656832" y="559612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Verification
</a:t>
            </a:r>
            <a:r>
              <a:rPr lang="en-US" sz="10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photo proof audit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194560"/>
            <a:ext cx="5120640" cy="51206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2926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PUBLIC INFRASTRUCTURE TREND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to Autonomous Civic Governance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611880" cy="4572000"/>
          </a:xfrm>
          <a:prstGeom prst="roundRect">
            <a:avLst>
              <a:gd name="adj" fmla="val 2278"/>
            </a:avLst>
          </a:prstGeom>
          <a:solidFill>
            <a:srgbClr val="15132C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420624" cy="420624"/>
          </a:xfrm>
          <a:prstGeom prst="ellipse">
            <a:avLst/>
          </a:prstGeom>
          <a:solidFill>
            <a:srgbClr val="1B1938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7724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68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Computer Vision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8986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URBAN SENSING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29184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infrastructure reporting is transitioning from slow, text-heavy manual hotlines to instantaneous computer vision scanning from citizen devices with real-time HUD telemetry.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600200"/>
            <a:ext cx="3611880" cy="4572000"/>
          </a:xfrm>
          <a:prstGeom prst="roundRect">
            <a:avLst>
              <a:gd name="adj" fmla="val 2278"/>
            </a:avLst>
          </a:prstGeom>
          <a:solidFill>
            <a:srgbClr val="15132C"/>
          </a:solidFill>
          <a:ln w="158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17720" y="1874520"/>
            <a:ext cx="420624" cy="420624"/>
          </a:xfrm>
          <a:prstGeom prst="ellipse">
            <a:avLst/>
          </a:prstGeom>
          <a:solidFill>
            <a:srgbClr val="1B1938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61772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468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DPI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28986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ALGORITHMIC TRIAGE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29184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can no longer operate on first-come-first-serve queues. Future governance relies on intelligent priority engines balancing severity, recurrence, and public impact.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83880" y="1600200"/>
            <a:ext cx="3611880" cy="4572000"/>
          </a:xfrm>
          <a:prstGeom prst="roundRect">
            <a:avLst>
              <a:gd name="adj" fmla="val 2278"/>
            </a:avLst>
          </a:prstGeom>
          <a:solidFill>
            <a:srgbClr val="15132C"/>
          </a:solidFill>
          <a:ln w="1587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458200" y="1874520"/>
            <a:ext cx="420624" cy="420624"/>
          </a:xfrm>
          <a:prstGeom prst="ellipse">
            <a:avLst/>
          </a:prstGeom>
          <a:solidFill>
            <a:srgbClr val="1B1938"/>
          </a:solidFill>
          <a:ln w="1905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45820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2468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Proof-Based Governance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28986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PHOTOGRAPHIC AUDIT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329184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public trust deficit through mandatory before &amp; after visual verification, AI clearance metrics, and citizen sign-off before municipal funds are disbursed.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194560"/>
            <a:ext cx="5120640" cy="51206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2926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INFRASTRUCTURE CHALLENGES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Modern Cities Fail to Resolve Defects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15132C"/>
          </a:solidFill>
          <a:ln w="1587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04088" y="17647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₹14,300 Cr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313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economic waste from unresolved road &amp; infrastructure damage in metros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60020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15132C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538728" y="17647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Days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2313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legacy complaint turnaround time in municipal portals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15132C"/>
          </a:solidFill>
          <a:ln w="158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373368" y="17647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373368" y="2313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complaints closed without citizen verification or photo proof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06840" y="160020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15132C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208008" y="17647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12M+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208008" y="2313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citizens impacted daily by municipal infrastructure delays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520440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15132C"/>
          </a:solidFill>
          <a:ln w="12700">
            <a:solidFill>
              <a:srgbClr val="312C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04088" y="3721608"/>
            <a:ext cx="82296" cy="822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86968" y="36393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Unreported Road Hazards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04088" y="3977640"/>
            <a:ext cx="5038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Potholes remain unaddressed for months, escalating from minor cracks into hazardous craters causing lethal accidents.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520440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15132C"/>
          </a:solidFill>
          <a:ln w="12700">
            <a:solidFill>
              <a:srgbClr val="312C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327648" y="3721608"/>
            <a:ext cx="82296" cy="822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510528" y="36393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Accumulation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327648" y="3977640"/>
            <a:ext cx="5038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Overflowing waste dumping points lack continuous monitoring and SLA accountability, creating public health crises.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855464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15132C"/>
          </a:solidFill>
          <a:ln w="12700">
            <a:solidFill>
              <a:srgbClr val="312C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04088" y="5056632"/>
            <a:ext cx="82296" cy="822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886968" y="497433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Municipal Routing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04088" y="5312664"/>
            <a:ext cx="5038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complaints disappear into bureaucratic departmental silos with zero visibility into inspection schedules.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4855464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15132C"/>
          </a:solidFill>
          <a:ln w="12700">
            <a:solidFill>
              <a:srgbClr val="312C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327648" y="5056632"/>
            <a:ext cx="82296" cy="822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6510528" y="497433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Resolutions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327648" y="5312664"/>
            <a:ext cx="5038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close work orders on paper without photographic proof of work completed, eroding citizen trust.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194560"/>
            <a:ext cx="5120640" cy="51206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2926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ARCHITECTURE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CivicAI: End-to-End Smart Governance Platform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724912" cy="4572000"/>
          </a:xfrm>
          <a:prstGeom prst="roundRect">
            <a:avLst>
              <a:gd name="adj" fmla="val 3020"/>
            </a:avLst>
          </a:prstGeom>
          <a:solidFill>
            <a:srgbClr val="15132C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18562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1938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31520" y="242316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Scanner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346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DEFECT TELEMETRY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9184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snap or upload photos. Real-time neural inference detects issue category (pothole, garbage, streetlight, waterlogging), calculates severity, and overlays a futuristic visor HUD.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4136" y="1600200"/>
            <a:ext cx="2724912" cy="4572000"/>
          </a:xfrm>
          <a:prstGeom prst="roundRect">
            <a:avLst>
              <a:gd name="adj" fmla="val 3020"/>
            </a:avLst>
          </a:prstGeom>
          <a:solidFill>
            <a:srgbClr val="15132C"/>
          </a:solidFill>
          <a:ln w="158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02736" y="18562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1938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602736" y="242316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Engine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02736" y="28346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TRIAGE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602736" y="329184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Multi-weighted triage score computes importance based on severity (35%), duplicate cluster count (25%), location density (20%), and public impact (20%).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45352" y="1600200"/>
            <a:ext cx="2724912" cy="4572000"/>
          </a:xfrm>
          <a:prstGeom prst="roundRect">
            <a:avLst>
              <a:gd name="adj" fmla="val 3020"/>
            </a:avLst>
          </a:prstGeom>
          <a:solidFill>
            <a:srgbClr val="15132C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73952" y="18562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1938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473952" y="242316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Dual-Panel Admin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28346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&amp; CONTROL CENTER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329184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officers access two portals: a real-time complaints queue with before/after review and an interactive geospatial map covering 35+ Bengaluru zones.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16568" y="1600200"/>
            <a:ext cx="2724912" cy="4572000"/>
          </a:xfrm>
          <a:prstGeom prst="roundRect">
            <a:avLst>
              <a:gd name="adj" fmla="val 3020"/>
            </a:avLst>
          </a:prstGeom>
          <a:solidFill>
            <a:srgbClr val="15132C"/>
          </a:solidFill>
          <a:ln w="1587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345168" y="18562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1938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9345168" y="242316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Proof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45168" y="28346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ASSURANCE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345168" y="329184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requires mandatory after-photo evidence. The system computes a clearance score (85–100%) and a 1-tap citizen confirmation before closing the ticket.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194560"/>
            <a:ext cx="5120640" cy="51206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2926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INNOVATIONS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Pioneering Capabilities Built into CivicAI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15132C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329184" cy="329184"/>
          </a:xfrm>
          <a:prstGeom prst="ellipse">
            <a:avLst/>
          </a:prstGeom>
          <a:solidFill>
            <a:srgbClr val="1B1938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31520" y="22860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Futuristic Visor HUD Lens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4320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scanning overlay showing bounding coordinates, defect classification, confidence telemetry, and severity diagnostics.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79392" y="160020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15132C"/>
          </a:solidFill>
          <a:ln w="158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07992" y="1828800"/>
            <a:ext cx="329184" cy="329184"/>
          </a:xfrm>
          <a:prstGeom prst="ellipse">
            <a:avLst/>
          </a:prstGeom>
          <a:solidFill>
            <a:srgbClr val="1B1938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507992" y="22860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Whole-City Geospatial Coverage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07992" y="274320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location engine with 35+ pre-mapped Bengaluru ward zones, GPS radius geocoding, and instant suggestions.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55864" y="160020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15132C"/>
          </a:solidFill>
          <a:ln w="1587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84464" y="1828800"/>
            <a:ext cx="329184" cy="329184"/>
          </a:xfrm>
          <a:prstGeom prst="ellipse">
            <a:avLst/>
          </a:prstGeom>
          <a:solidFill>
            <a:srgbClr val="1B1938"/>
          </a:solidFill>
          <a:ln w="1905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284464" y="22860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CivicBot Autonomous Assistant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74320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AI conversational guide assisting citizens in drafting reports, checking ticket status, and finding emergency services.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15132C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329184" cy="329184"/>
          </a:xfrm>
          <a:prstGeom prst="ellipse">
            <a:avLst/>
          </a:prstGeom>
          <a:solidFill>
            <a:srgbClr val="1B1938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31520" y="45720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Municipal Auth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02920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three-tier access control: citizen reporter, field inspection officer, and BBMP administrative commander.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79392" y="388620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15132C"/>
          </a:solidFill>
          <a:ln w="1587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07992" y="4114800"/>
            <a:ext cx="329184" cy="329184"/>
          </a:xfrm>
          <a:prstGeom prst="ellipse">
            <a:avLst/>
          </a:prstGeom>
          <a:solidFill>
            <a:srgbClr val="1B1938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507992" y="45720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Pitch Demonstration Mode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07992" y="502920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guided tour with preset scenarios (pothole, garbage, streetlight) for automated hackathon demonstration.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55864" y="388620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15132C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284464" y="4114800"/>
            <a:ext cx="329184" cy="329184"/>
          </a:xfrm>
          <a:prstGeom prst="ellipse">
            <a:avLst/>
          </a:prstGeom>
          <a:solidFill>
            <a:srgbClr val="1B1938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8284464" y="45720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PWA Architecture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84464" y="502920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asset fallbacks and cached storage ensuring seamless operation even in low-bandwidth municipal field environments.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194560"/>
            <a:ext cx="5120640" cy="51206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2926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SYSTEM DESIGN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Modern Technology Stack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724912" cy="4572000"/>
          </a:xfrm>
          <a:prstGeom prst="roundRect">
            <a:avLst>
              <a:gd name="adj" fmla="val 3020"/>
            </a:avLst>
          </a:prstGeom>
          <a:solidFill>
            <a:srgbClr val="15132C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04088" y="1801368"/>
            <a:ext cx="2322576" cy="384048"/>
          </a:xfrm>
          <a:prstGeom prst="roundRect">
            <a:avLst>
              <a:gd name="adj" fmla="val 14286"/>
            </a:avLst>
          </a:prstGeom>
          <a:solidFill>
            <a:srgbClr val="22D3EE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04088" y="18013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2376" y="2487168"/>
            <a:ext cx="64008" cy="640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86968" y="235000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&amp; TypeScript for bulletproof typing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22376" y="3218688"/>
            <a:ext cx="64008" cy="640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86968" y="308152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5.4 for lightning-fast build bundling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2376" y="3950208"/>
            <a:ext cx="64008" cy="640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86968" y="381304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 for futuristic responsive UI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2376" y="4681728"/>
            <a:ext cx="64008" cy="640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86968" y="454456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React-Leaflet &amp; OpenStreetMap for GIS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2376" y="5413248"/>
            <a:ext cx="64008" cy="640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86968" y="527608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 &amp; Canvas Confetti interactions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74136" y="1600200"/>
            <a:ext cx="2724912" cy="4572000"/>
          </a:xfrm>
          <a:prstGeom prst="roundRect">
            <a:avLst>
              <a:gd name="adj" fmla="val 3020"/>
            </a:avLst>
          </a:prstGeom>
          <a:solidFill>
            <a:srgbClr val="15132C"/>
          </a:solidFill>
          <a:ln w="158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575304" y="1801368"/>
            <a:ext cx="2322576" cy="384048"/>
          </a:xfrm>
          <a:prstGeom prst="roundRect">
            <a:avLst>
              <a:gd name="adj" fmla="val 14286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3575304" y="18013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93592" y="2487168"/>
            <a:ext cx="64008" cy="640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758184" y="235000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Vision API integration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93592" y="3218688"/>
            <a:ext cx="64008" cy="640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3758184" y="308152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defect classification pipeline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93592" y="3950208"/>
            <a:ext cx="64008" cy="640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3758184" y="381304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severity &amp; confidence scoring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93592" y="4681728"/>
            <a:ext cx="64008" cy="640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3758184" y="454456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deduplication &amp; cluster matching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93592" y="5413248"/>
            <a:ext cx="64008" cy="640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3758184" y="527608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CivicBot NLP assistant for dialogue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45352" y="1600200"/>
            <a:ext cx="2724912" cy="4572000"/>
          </a:xfrm>
          <a:prstGeom prst="roundRect">
            <a:avLst>
              <a:gd name="adj" fmla="val 3020"/>
            </a:avLst>
          </a:prstGeom>
          <a:solidFill>
            <a:srgbClr val="15132C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446520" y="1801368"/>
            <a:ext cx="2322576" cy="384048"/>
          </a:xfrm>
          <a:prstGeom prst="roundRect">
            <a:avLst>
              <a:gd name="adj" fmla="val 14286"/>
            </a:avLst>
          </a:prstGeom>
          <a:solidFill>
            <a:srgbClr val="FBBF24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6446520" y="18013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64808" y="2487168"/>
            <a:ext cx="64008" cy="640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6629400" y="235000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high-throughput backend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64808" y="3218688"/>
            <a:ext cx="64008" cy="640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6629400" y="308152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endpoints for issue lifecycle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64808" y="3950208"/>
            <a:ext cx="64008" cy="640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6629400" y="381304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Context-based reactive global state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64808" y="4681728"/>
            <a:ext cx="64008" cy="640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6629400" y="454456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client state persistence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64808" y="5413248"/>
            <a:ext cx="64008" cy="640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 txBox="1"/>
          <p:nvPr/>
        </p:nvSpPr>
        <p:spPr>
          <a:xfrm>
            <a:off x="6629400" y="527608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synthesis &amp; telemetry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116568" y="1600200"/>
            <a:ext cx="2724912" cy="4572000"/>
          </a:xfrm>
          <a:prstGeom prst="roundRect">
            <a:avLst>
              <a:gd name="adj" fmla="val 3020"/>
            </a:avLst>
          </a:prstGeom>
          <a:solidFill>
            <a:srgbClr val="15132C"/>
          </a:solidFill>
          <a:ln w="1587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9317736" y="1801368"/>
            <a:ext cx="2322576" cy="384048"/>
          </a:xfrm>
          <a:prstGeom prst="roundRect">
            <a:avLst>
              <a:gd name="adj" fmla="val 14286"/>
            </a:avLst>
          </a:prstGeom>
          <a:solidFill>
            <a:srgbClr val="34D399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9317736" y="18013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DPI OPS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336024" y="248716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 txBox="1"/>
          <p:nvPr/>
        </p:nvSpPr>
        <p:spPr>
          <a:xfrm>
            <a:off x="9500616" y="235000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 edge deployment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336024" y="321868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 txBox="1"/>
          <p:nvPr/>
        </p:nvSpPr>
        <p:spPr>
          <a:xfrm>
            <a:off x="9500616" y="308152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CI/CD automated pipeline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336024" y="395020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 txBox="1"/>
          <p:nvPr/>
        </p:nvSpPr>
        <p:spPr>
          <a:xfrm>
            <a:off x="9500616" y="381304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Offline-resilient image asset caching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336024" y="468172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 txBox="1"/>
          <p:nvPr/>
        </p:nvSpPr>
        <p:spPr>
          <a:xfrm>
            <a:off x="9500616" y="454456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open city data format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336024" y="541324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 txBox="1"/>
          <p:nvPr/>
        </p:nvSpPr>
        <p:spPr>
          <a:xfrm>
            <a:off x="9500616" y="527608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Zero-latency municipal dashboard views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502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194560"/>
            <a:ext cx="5120640" cy="51206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2926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EXPERIENCE FLOW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From Defect Discovery to Fix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15132C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988820" y="1417320"/>
            <a:ext cx="420624" cy="420624"/>
          </a:xfrm>
          <a:prstGeom prst="ellipse">
            <a:avLst/>
          </a:prstGeom>
          <a:solidFill>
            <a:srgbClr val="1B1938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98882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240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&amp; GEO-TAG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25880" y="2788920"/>
            <a:ext cx="1965960" cy="0"/>
          </a:xfrm>
          <a:prstGeom prst="line">
            <a:avLst/>
          </a:prstGeom>
          <a:noFill/>
          <a:ln w="12700">
            <a:solidFill>
              <a:srgbClr val="312C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95528" y="3017520"/>
            <a:ext cx="3026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detects a road hazard, opens the CivicAI visor lens, snaps a photo, and the app auto-resolves Bengaluru zone coordinates and street address in milliseconds.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133088" y="35661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43400" y="173736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15132C"/>
          </a:solidFill>
          <a:ln w="158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829300" y="1417320"/>
            <a:ext cx="420624" cy="420624"/>
          </a:xfrm>
          <a:prstGeom prst="ellipse">
            <a:avLst/>
          </a:prstGeom>
          <a:solidFill>
            <a:srgbClr val="1B1938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82930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2240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&amp; TRACK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166360" y="2788920"/>
            <a:ext cx="1965960" cy="0"/>
          </a:xfrm>
          <a:prstGeom prst="line">
            <a:avLst/>
          </a:prstGeom>
          <a:noFill/>
          <a:ln w="12700">
            <a:solidFill>
              <a:srgbClr val="312C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636008" y="3017520"/>
            <a:ext cx="3026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categorizes severity, computes a priority score, checks for duplicate cluster reports, and provides a live tracking card with real-time status updates.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973568" y="35661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183880" y="173736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15132C"/>
          </a:solidFill>
          <a:ln w="1587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669780" y="1417320"/>
            <a:ext cx="420624" cy="420624"/>
          </a:xfrm>
          <a:prstGeom prst="ellipse">
            <a:avLst/>
          </a:prstGeom>
          <a:solidFill>
            <a:srgbClr val="1B1938"/>
          </a:solidFill>
          <a:ln w="1905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966978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2240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AUDIT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06840" y="2788920"/>
            <a:ext cx="1965960" cy="0"/>
          </a:xfrm>
          <a:prstGeom prst="line">
            <a:avLst/>
          </a:prstGeom>
          <a:noFill/>
          <a:ln w="12700">
            <a:solidFill>
              <a:srgbClr val="312C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8476488" y="3017520"/>
            <a:ext cx="3026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municipal teams execute the repair, the citizen inspects before &amp; after proof photos directly in the app, confirms resolution, and logs satisfaction.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194560"/>
            <a:ext cx="5120640" cy="51206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2926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OPERATIONS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Dual-View Command &amp; Control for Officers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15132C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FBBF24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77240" y="1874520"/>
            <a:ext cx="489204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1: COMPLAINTS DATA QUEUE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" y="26791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978408" y="25603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&amp; severity-sorted cards with high-contrast status tags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" y="3410712"/>
            <a:ext cx="73152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978408" y="32918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photo preview: defect photo permanently anchored with resolution slot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" y="41422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978408" y="40233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'Resolve with Proof' modal triggering verification workflow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4873752"/>
            <a:ext cx="73152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78408" y="47548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detail modal with comprehensive citizen and AI audit logs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5528" y="5605272"/>
            <a:ext cx="73152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978408" y="5486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progression lifecycle: Pending → In Progress → Resolved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1600200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15132C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00800" y="1874520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22D3EE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400800" y="1874520"/>
            <a:ext cx="489204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2: GEOSPATIAL RESOLUTION MAP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19088" y="26791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601968" y="25603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Leaflet GIS map with fluid zoom and smooth pan navigation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19088" y="3410712"/>
            <a:ext cx="73152" cy="7315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601968" y="32918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status markers: pulsing amber (active) vs solid emerald (fixed)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19088" y="41422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601968" y="40233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Ward-level density clustering for rapid field contractor dispatch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19088" y="4873752"/>
            <a:ext cx="73152" cy="7315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601968" y="47548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marker popups displaying issue photo, severity, and instant actions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19088" y="5605272"/>
            <a:ext cx="73152" cy="7315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6601968" y="5486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Citywide quick-focus pills covering Koramangala, Indiranagar, Whitefield, etc.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194560"/>
            <a:ext cx="5120640" cy="51206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2926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PHOTOGRAPHIC PROOF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Loop: Visual Audit &amp; Citizen Verification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15132C"/>
          </a:solidFill>
          <a:ln w="1587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build/befor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9164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5029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REPAIR · CITIZEN REPORT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51960" y="146304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15132C"/>
          </a:solidFill>
          <a:ln w="1587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34840" y="1691640"/>
            <a:ext cx="3246120" cy="32003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34840" y="5029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REPAIR · ADMIN RESOLUTION PROOF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183880" y="146304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15132C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8412480" y="1554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9784080" y="1554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Score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83880" y="2487168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15132C"/>
          </a:solidFill>
          <a:ln w="158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 txBox="1"/>
          <p:nvPr/>
        </p:nvSpPr>
        <p:spPr>
          <a:xfrm>
            <a:off x="8412480" y="257860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Days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9784080" y="25786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83880" y="3511296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15132C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 txBox="1"/>
          <p:nvPr/>
        </p:nvSpPr>
        <p:spPr>
          <a:xfrm>
            <a:off x="8412480" y="3602736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9784080" y="3602736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Confirmed Verified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183880" y="461772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15132C"/>
          </a:solidFill>
          <a:ln w="1587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 txBox="1"/>
          <p:nvPr/>
        </p:nvSpPr>
        <p:spPr>
          <a:xfrm>
            <a:off x="8412480" y="48006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Pothole (14cm depth)
</a:t>
            </a:r>
            <a:r>
              <a:rPr lang="en-US" sz="105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Bitumen Patch Sealed &amp; Leveled
</a:t>
            </a:r>
            <a:r>
              <a:rPr lang="en-US" sz="105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80ft Road, Koramangala 4th Block
</a:t>
            </a:r>
            <a:r>
              <a:rPr lang="en-US" sz="105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AI Quality Confidence · BBMP Audit Seal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502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194560"/>
            <a:ext cx="5120640" cy="51206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2926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PERFORMANCE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 Governance Transformation in Bengaluru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15132C"/>
          </a:solidFill>
          <a:ln w="1587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04088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REDUCTION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269748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localized road accidents in pilot wards within 60 days of deployment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15132C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538728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Days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TURNAROUND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269748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30+ days down to 76 hours average time to verified fix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60020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15132C"/>
          </a:solidFill>
          <a:ln w="158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373368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ACCURACY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373368" y="269748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High-precision computer vision defect categorization and severity tagging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06840" y="160020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15132C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9208008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9208008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LOCALITIES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208008" y="269748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zone coverage across Central, South, East, and Tech Corridors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794760"/>
            <a:ext cx="11201400" cy="2377440"/>
          </a:xfrm>
          <a:prstGeom prst="roundRect">
            <a:avLst>
              <a:gd name="adj" fmla="val 3462"/>
            </a:avLst>
          </a:prstGeom>
          <a:solidFill>
            <a:srgbClr val="15132C"/>
          </a:solidFill>
          <a:ln w="158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77240" y="40233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CIVIC IMPACT FOR DIGITAL PUBLIC INFRASTRUCTURE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45720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978408" y="4480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Public Faith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84632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visual proof builds unmatched transparency between citizens and government.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34840" y="45720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4636008" y="4480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Budget Leakage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434840" y="484632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funds are paid only upon visual verification of completed work orders.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45720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8293608" y="4480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DPI Blueprint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092440" y="484632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allows rapid deployment to other Indian Tier-1 &amp; Tier-2 smart cities.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194560"/>
            <a:ext cx="5120640" cy="51206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2926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from Local Hackathon to National DPI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611880" cy="4572000"/>
          </a:xfrm>
          <a:prstGeom prst="roundRect">
            <a:avLst>
              <a:gd name="adj" fmla="val 2278"/>
            </a:avLst>
          </a:prstGeom>
          <a:solidFill>
            <a:srgbClr val="15132C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3154680" cy="685800"/>
          </a:xfrm>
          <a:prstGeom prst="roundRect">
            <a:avLst>
              <a:gd name="adj" fmla="val 9333"/>
            </a:avLst>
          </a:prstGeom>
          <a:solidFill>
            <a:srgbClr val="22D3EE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68680" y="18745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Current Release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1488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MVP &amp; Live Cloud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9808" y="27889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905256" y="266090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 responsive web platform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749808" y="34747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905256" y="334670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Bengaluru pre-configured urban zones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749808" y="41605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905256" y="403250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defect scanner with HUD telemetry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749808" y="48463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905256" y="471830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photo upload &amp; verification loop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749808" y="55321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905256" y="540410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deployment on Vercel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4343400" y="1600200"/>
            <a:ext cx="3611880" cy="4572000"/>
          </a:xfrm>
          <a:prstGeom prst="roundRect">
            <a:avLst>
              <a:gd name="adj" fmla="val 2278"/>
            </a:avLst>
          </a:prstGeom>
          <a:solidFill>
            <a:srgbClr val="15132C"/>
          </a:solidFill>
          <a:ln w="158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0" y="1828800"/>
            <a:ext cx="3154680" cy="685800"/>
          </a:xfrm>
          <a:prstGeom prst="roundRect">
            <a:avLst>
              <a:gd name="adj" fmla="val 9333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4709160" y="18745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Q4 2026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21488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Integration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90288" y="27889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745736" y="266090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bridges to BBMP Sahaya &amp; e-Governance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4590288" y="34747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4745736" y="334670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mobile companion app for field crews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4590288" y="41605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4745736" y="403250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push notifications via WhatsApp &amp; SMS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4590288" y="48463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4745736" y="471830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geospatial enterprise backend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4590288" y="55321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4745736" y="540410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drone &amp; dashcam survey ingestion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8183880" y="1600200"/>
            <a:ext cx="3611880" cy="4572000"/>
          </a:xfrm>
          <a:prstGeom prst="roundRect">
            <a:avLst>
              <a:gd name="adj" fmla="val 2278"/>
            </a:avLst>
          </a:prstGeom>
          <a:solidFill>
            <a:srgbClr val="15132C"/>
          </a:solidFill>
          <a:ln w="1587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8412480" y="1828800"/>
            <a:ext cx="3154680" cy="685800"/>
          </a:xfrm>
          <a:prstGeom prst="roundRect">
            <a:avLst>
              <a:gd name="adj" fmla="val 9333"/>
            </a:avLst>
          </a:prstGeom>
          <a:solidFill>
            <a:srgbClr val="F472B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8549640" y="18745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2027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549640" y="21488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Smart Cities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430768" y="27889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8586216" y="266090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road maintenance: AI forecasting failures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8430768" y="34747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8586216" y="334670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proof of repair on public blockchain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8430768" y="41605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8586216" y="403250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citizen contribution rewards &amp; green credits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8430768" y="48463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8586216" y="471830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DPI expansion across 15+ smart cities</a:t>
            </a:r>
            <a:endParaRPr lang="en-US" sz="970" dirty="0"/>
          </a:p>
        </p:txBody>
      </p:sp>
      <p:sp>
        <p:nvSpPr>
          <p:cNvPr id="47" name="Shape 45"/>
          <p:cNvSpPr/>
          <p:nvPr/>
        </p:nvSpPr>
        <p:spPr>
          <a:xfrm>
            <a:off x="8430768" y="55321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8586216" y="540410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National Emergency &amp; 112 services</a:t>
            </a:r>
            <a:endParaRPr lang="en-US" sz="970" dirty="0"/>
          </a:p>
        </p:txBody>
      </p:sp>
      <p:sp>
        <p:nvSpPr>
          <p:cNvPr id="49" name="Text 4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502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194560"/>
            <a:ext cx="5120640" cy="51206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423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AI for Digital Public Infrastructure &amp; Governance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7889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CivicAI: Transforming Citizen Grievances into Verifiable Public Solutions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737360" y="3566160"/>
            <a:ext cx="4206240" cy="2331720"/>
          </a:xfrm>
          <a:prstGeom prst="roundRect">
            <a:avLst>
              <a:gd name="adj" fmla="val 3529"/>
            </a:avLst>
          </a:prstGeom>
          <a:solidFill>
            <a:srgbClr val="15132C"/>
          </a:solidFill>
          <a:ln w="158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0116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4114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Panchaksharayya
</a:t>
            </a:r>
            <a:r>
              <a:rPr lang="en-US" sz="10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 &amp; AI Integration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Rashmi
</a:t>
            </a:r>
            <a:r>
              <a:rPr lang="en-US" sz="1050" dirty="0">
                <a:solidFill>
                  <a:srgbClr val="B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&amp; Civic Engagement Systems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566160"/>
            <a:ext cx="4206240" cy="2331720"/>
          </a:xfrm>
          <a:prstGeom prst="roundRect">
            <a:avLst>
              <a:gd name="adj" fmla="val 3529"/>
            </a:avLst>
          </a:prstGeom>
          <a:solidFill>
            <a:srgbClr val="15132C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922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LINKS &amp; REPOSITORY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1148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Deployment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civicai-neon.vercel.app
</a:t>
            </a:r>
            <a:r>
              <a:rPr lang="en-US" sz="10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
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github.com/panchaksharayya12/civicai
</a:t>
            </a:r>
            <a:r>
              <a:rPr lang="en-US" sz="1000" dirty="0">
                <a:solidFill>
                  <a:srgbClr val="8A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Track
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AI for DPI &amp; Governance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1416</Words>
  <Application>Microsoft Office PowerPoint</Application>
  <PresentationFormat>Widescreen</PresentationFormat>
  <Paragraphs>220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Panchu S</cp:lastModifiedBy>
  <cp:revision>2</cp:revision>
  <dcterms:created xsi:type="dcterms:W3CDTF">2026-09-23T10:29:19Z</dcterms:created>
  <dcterms:modified xsi:type="dcterms:W3CDTF">2026-09-23T10:31:22Z</dcterms:modified>
</cp:coreProperties>
</file>